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61" r:id="rId5"/>
    <p:sldId id="262" r:id="rId6"/>
    <p:sldId id="265" r:id="rId7"/>
    <p:sldId id="263" r:id="rId8"/>
    <p:sldId id="266" r:id="rId9"/>
    <p:sldId id="264" r:id="rId10"/>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Feb 5, 2026</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584 identifiers, 584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640080" y="1997524"/>
            <a:ext cx="10911535" cy="4456523"/>
          </a:xfrm>
          <a:prstGeom prst="rect">
            <a:avLst/>
          </a:prstGeom>
        </p:spPr>
      </p:pic>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832173" y="1665465"/>
            <a:ext cx="10527349" cy="5120640"/>
          </a:xfrm>
          <a:prstGeom prst="rect">
            <a:avLst/>
          </a:prstGeom>
        </p:spPr>
      </p:pic>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2305430" y="1665465"/>
            <a:ext cx="7580835" cy="5120640"/>
          </a:xfrm>
          <a:prstGeom prst="rect">
            <a:avLst/>
          </a:prstGeom>
        </p:spPr>
      </p:pic>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MyList_PPIColorByCluster.png"/>
          <p:cNvPicPr>
            <a:picLocks noChangeAspect="1"/>
          </p:cNvPicPr>
          <p:nvPr/>
        </p:nvPicPr>
        <p:blipFill>
          <a:blip r:embed="rId3"/>
          <a:stretch>
            <a:fillRect/>
          </a:stretch>
        </p:blipFill>
        <p:spPr>
          <a:xfrm>
            <a:off x="1282732" y="1665465"/>
            <a:ext cx="9626231" cy="5120640"/>
          </a:xfrm>
          <a:prstGeom prst="rect">
            <a:avLst/>
          </a:prstGeom>
        </p:spPr>
      </p:pic>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MyList_MCODE_ALL_PPIColorByCluster.png"/>
          <p:cNvPicPr>
            <a:picLocks noChangeAspect="1"/>
          </p:cNvPicPr>
          <p:nvPr/>
        </p:nvPicPr>
        <p:blipFill>
          <a:blip r:embed="rId3"/>
          <a:stretch>
            <a:fillRect/>
          </a:stretch>
        </p:blipFill>
        <p:spPr>
          <a:xfrm>
            <a:off x="640080" y="1689208"/>
            <a:ext cx="10911535" cy="5073155"/>
          </a:xfrm>
          <a:prstGeom prst="rect">
            <a:avLst/>
          </a:prstGeom>
        </p:spPr>
      </p:pic>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graphicFrame>
        <p:nvGraphicFramePr>
          <p:cNvPr id="3" name="Table 2"/>
          <p:cNvGraphicFramePr>
            <a:graphicFrameLocks noGrp="1"/>
          </p:cNvGraphicFramePr>
          <p:nvPr/>
        </p:nvGraphicFramePr>
        <p:xfrm>
          <a:off x="640080" y="1665465"/>
          <a:ext cx="10911535" cy="501396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284480">
                <a:tc>
                  <a:txBody>
                    <a:bodyPr/>
                    <a:lstStyle/>
                    <a:p>
                      <a:r>
                        <a:t>MyList</a:t>
                      </a:r>
                    </a:p>
                  </a:txBody>
                  <a:tcPr/>
                </a:tc>
                <a:tc>
                  <a:txBody>
                    <a:bodyPr/>
                    <a:lstStyle/>
                    <a:p>
                      <a:r>
                        <a:t>GO:0031966|mitochondrial membrane|-19.9;GO:0008610|lipid biosynthetic process|-17.8;R-HSA-556833|Metabolism of lipids|-17.2</a:t>
                      </a:r>
                    </a:p>
                  </a:txBody>
                  <a:tcPr/>
                </a:tc>
              </a:tr>
              <a:tr h="284480">
                <a:tc>
                  <a:txBody>
                    <a:bodyPr/>
                    <a:lstStyle/>
                    <a:p>
                      <a:r>
                        <a:t>MyList_MCODE_ALL</a:t>
                      </a:r>
                    </a:p>
                  </a:txBody>
                  <a:tcPr/>
                </a:tc>
                <a:tc>
                  <a:txBody>
                    <a:bodyPr/>
                    <a:lstStyle/>
                    <a:p>
                      <a:r>
                        <a:t>GO:0030991|intraciliary transport particle A|-14.1;GO:0030990|intraciliary transport particle|-13.7;R-HSA-2262752|Cellular responses to stress|-13.4</a:t>
                      </a:r>
                    </a:p>
                  </a:txBody>
                  <a:tcPr/>
                </a:tc>
              </a:tr>
              <a:tr h="284480">
                <a:tc>
                  <a:txBody>
                    <a:bodyPr/>
                    <a:lstStyle/>
                    <a:p>
                      <a:r>
                        <a:t>MyList_SUB1_MCODE_1</a:t>
                      </a:r>
                    </a:p>
                  </a:txBody>
                  <a:tcPr/>
                </a:tc>
                <a:tc>
                  <a:txBody>
                    <a:bodyPr/>
                    <a:lstStyle/>
                    <a:p>
                      <a:r>
                        <a:t>R-HSA-6811440|Retrograde transport at the Trans-Golgi-Network|-7.8;R-HSA-159236|Transport of Mature mRNA derived from an Intron-Containing Transcript|-7.1;R-HSA-72202|Transport of Mature Transcript to Cytoplasm|-6.9</a:t>
                      </a:r>
                    </a:p>
                  </a:txBody>
                  <a:tcPr/>
                </a:tc>
              </a:tr>
              <a:tr h="284480">
                <a:tc>
                  <a:txBody>
                    <a:bodyPr/>
                    <a:lstStyle/>
                    <a:p>
                      <a:r>
                        <a:t>MyList_SUB1_MCODE_2</a:t>
                      </a:r>
                    </a:p>
                  </a:txBody>
                  <a:tcPr/>
                </a:tc>
                <a:tc>
                  <a:txBody>
                    <a:bodyPr/>
                    <a:lstStyle/>
                    <a:p>
                      <a:r>
                        <a:t>GO:0031463|Cul3-RING ubiquitin ligase complex|-20.0;R-HSA-9639288|Amino acids regulate mTORC1|-18.0;GO:1903432|regulation of TORC1 signaling|-15.8</a:t>
                      </a:r>
                    </a:p>
                  </a:txBody>
                  <a:tcPr/>
                </a:tc>
              </a:tr>
              <a:tr h="284480">
                <a:tc>
                  <a:txBody>
                    <a:bodyPr/>
                    <a:lstStyle/>
                    <a:p>
                      <a:r>
                        <a:t>MyList_SUB1_MCODE_3</a:t>
                      </a:r>
                    </a:p>
                  </a:txBody>
                  <a:tcPr/>
                </a:tc>
                <a:tc>
                  <a:txBody>
                    <a:bodyPr/>
                    <a:lstStyle/>
                    <a:p>
                      <a:r>
                        <a:t>GO:0030991|intraciliary transport particle A|-25.5;GO:0030990|intraciliary transport particle|-25.2;GO:0097542|ciliary tip|-22.4</a:t>
                      </a:r>
                    </a:p>
                  </a:txBody>
                  <a:tcPr/>
                </a:tc>
              </a:tr>
              <a:tr h="284480">
                <a:tc>
                  <a:txBody>
                    <a:bodyPr/>
                    <a:lstStyle/>
                    <a:p>
                      <a:r>
                        <a:t>MyList_SUB1_MCODE_4</a:t>
                      </a:r>
                    </a:p>
                  </a:txBody>
                  <a:tcPr/>
                </a:tc>
                <a:tc>
                  <a:txBody>
                    <a:bodyPr/>
                    <a:lstStyle/>
                    <a:p>
                      <a:r>
                        <a:t>GO:0019646|aerobic electron transport chain|-8.7;GO:0042773|ATP synthesis coupled electron transport|-8.6;GO:0042775|mitochondrial ATP synthesis coupled electron transport|-8.6</a:t>
                      </a:r>
                    </a:p>
                  </a:txBody>
                  <a:tcPr/>
                </a:tc>
              </a:tr>
              <a:tr h="284480">
                <a:tc>
                  <a:txBody>
                    <a:bodyPr/>
                    <a:lstStyle/>
                    <a:p>
                      <a:r>
                        <a:t>MyList_SUB1_MCODE_5</a:t>
                      </a:r>
                    </a:p>
                  </a:txBody>
                  <a:tcPr/>
                </a:tc>
                <a:tc>
                  <a:txBody>
                    <a:bodyPr/>
                    <a:lstStyle/>
                    <a:p>
                      <a:r>
                        <a:t>GO:0006352|DNA-templated transcription initiation|-14.9;WP405|Eukaryotic transcription initiation|-13.1;GO:0006367|transcription initiation at RNA polymerase II promoter|-12.6</a:t>
                      </a:r>
                    </a:p>
                  </a:txBody>
                  <a:tcPr/>
                </a:tc>
              </a:tr>
              <a:tr h="284480">
                <a:tc>
                  <a:txBody>
                    <a:bodyPr/>
                    <a:lstStyle/>
                    <a:p>
                      <a:r>
                        <a:t>MyList_SUB1_MCODE_6</a:t>
                      </a:r>
                    </a:p>
                  </a:txBody>
                  <a:tcPr/>
                </a:tc>
                <a:tc>
                  <a:txBody>
                    <a:bodyPr/>
                    <a:lstStyle/>
                    <a:p>
                      <a:r>
                        <a:t>WP5501|GNAQ p R183Q drives capillary malformation|-11.3;WP4341|Non genomic actions of 1 25 dihydroxyvitamin D3|-9.3;WP35|G protein signaling|-8.9</a:t>
                      </a:r>
                    </a:p>
                  </a:txBody>
                  <a:tcPr/>
                </a:tc>
              </a:tr>
              <a:tr h="284480">
                <a:tc>
                  <a:txBody>
                    <a:bodyPr/>
                    <a:lstStyle/>
                    <a:p>
                      <a:r>
                        <a:t>MyList_SUB1_MCODE_7</a:t>
                      </a:r>
                    </a:p>
                  </a:txBody>
                  <a:tcPr/>
                </a:tc>
                <a:tc>
                  <a:txBody>
                    <a:bodyPr/>
                    <a:lstStyle/>
                    <a:p>
                      <a:r>
                        <a:t>GO:0031201|SNARE complex|-10.6;GO:0030133|transport vesicle|-9.0;GO:0008021|synaptic vesicle|-7.6</a:t>
                      </a:r>
                    </a:p>
                  </a:txBody>
                  <a:tcPr/>
                </a:tc>
              </a:tr>
              <a:tr h="284480">
                <a:tc>
                  <a:txBody>
                    <a:bodyPr/>
                    <a:lstStyle/>
                    <a:p>
                      <a:r>
                        <a:t>MyList_SUB1_MCODE_8</a:t>
                      </a:r>
                    </a:p>
                  </a:txBody>
                  <a:tcPr/>
                </a:tc>
                <a:tc>
                  <a:txBody>
                    <a:bodyPr/>
                    <a:lstStyle/>
                    <a:p>
                      <a:r>
                        <a:t>R-HSA-6785807|Interleukin-4 and Interleukin-13 signaling|-12.3;R-HSA-449147|Signaling by Interleukins|-9.1;GO:0030097|hemopoiesis|-8.1</a:t>
                      </a:r>
                    </a:p>
                  </a:txBody>
                  <a:tcPr/>
                </a:tc>
              </a:tr>
              <a:tr h="284480">
                <a:tc>
                  <a:txBody>
                    <a:bodyPr/>
                    <a:lstStyle/>
                    <a:p>
                      <a:r>
                        <a:t>MyList_SUB1_MCODE_9</a:t>
                      </a:r>
                    </a:p>
                  </a:txBody>
                  <a:tcPr/>
                </a:tc>
                <a:tc>
                  <a:txBody>
                    <a:bodyPr/>
                    <a:lstStyle/>
                    <a:p>
                      <a:r>
                        <a:t>WP4923|Autophagy|-12.1;hsa04211|Longevity regulating pathway|-10.1;R-HSA-1632852|Macroautophagy|-9.3</a:t>
                      </a:r>
                    </a:p>
                  </a:txBody>
                  <a:tcPr/>
                </a:tc>
              </a:tr>
              <a:tr h="284480">
                <a:tc>
                  <a:txBody>
                    <a:bodyPr/>
                    <a:lstStyle/>
                    <a:p>
                      <a:r>
                        <a:t>MyList_SUB1_MCODE_12</a:t>
                      </a:r>
                    </a:p>
                  </a:txBody>
                  <a:tcPr/>
                </a:tc>
                <a:tc>
                  <a:txBody>
                    <a:bodyPr/>
                    <a:lstStyle/>
                    <a:p>
                      <a:r>
                        <a:t>M68|PID RHOA REG PATHWAY|-8.5;R-HSA-193648|NRAGE signals death through JNK|-8.2;R-HSA-204998|Cell death signalling via NRAGE, NRIF and NADE|-7.9</a:t>
                      </a:r>
                    </a:p>
                  </a:txBody>
                  <a:tcPr/>
                </a:tc>
              </a:tr>
              <a:tr h="284480">
                <a:tc>
                  <a:txBody>
                    <a:bodyPr/>
                    <a:lstStyle/>
                    <a:p>
                      <a:r>
                        <a:t>MyList_SUB1_MCODE_13</a:t>
                      </a:r>
                    </a:p>
                  </a:txBody>
                  <a:tcPr/>
                </a:tc>
                <a:tc>
                  <a:txBody>
                    <a:bodyPr/>
                    <a:lstStyle/>
                    <a:p>
                      <a:r>
                        <a:t>GO:0006303|double-strand break repair via nonhomologous end joining|-8.3;GO:0006302|double-strand break repair|-6.4;GO:0006281|DNA repair|-5.3</a:t>
                      </a:r>
                    </a:p>
                  </a:txBody>
                  <a:tcPr/>
                </a:tc>
              </a:tr>
              <a:tr h="284480">
                <a:tc>
                  <a:txBody>
                    <a:bodyPr/>
                    <a:lstStyle/>
                    <a:p>
                      <a:r>
                        <a:t>MyList_SUB1_MCODE_14</a:t>
                      </a:r>
                    </a:p>
                  </a:txBody>
                  <a:tcPr/>
                </a:tc>
                <a:tc>
                  <a:txBody>
                    <a:bodyPr/>
                    <a:lstStyle/>
                    <a:p>
                      <a:r>
                        <a:t>R-HSA-450321|JNK (c-Jun kinases) phosphorylation and  activation mediated by activated human TAK1|-9.5;WP2637|Interleukin 1 IL 1 structural pathway|-8.4;R-HSA-450294|MAP kinase activation|-8.1</a:t>
                      </a:r>
                    </a:p>
                  </a:txBody>
                  <a:tcPr/>
                </a:tc>
              </a:tr>
              <a:tr h="284480">
                <a:tc>
                  <a:txBody>
                    <a:bodyPr/>
                    <a:lstStyle/>
                    <a:p>
                      <a:r>
                        <a:t>MyList_SUB1_MCODE_15</a:t>
                      </a:r>
                    </a:p>
                  </a:txBody>
                  <a:tcPr/>
                </a:tc>
                <a:tc>
                  <a:txBody>
                    <a:bodyPr/>
                    <a:lstStyle/>
                    <a:p>
                      <a:r>
                        <a:t>GO:1990246|uniplex complex|-11.4;GO:0036444|calcium import into the mitochondrion|-10.2;R-HSA-8949664|Processing of SMDT1|-9.9</a:t>
                      </a:r>
                    </a:p>
                  </a:txBody>
                  <a:tcPr/>
                </a:tc>
              </a:tr>
              <a:tr h="284480">
                <a:tc>
                  <a:txBody>
                    <a:bodyPr/>
                    <a:lstStyle/>
                    <a:p>
                      <a:r>
                        <a:t>MyList_SUB1_MCODE_17</a:t>
                      </a:r>
                    </a:p>
                  </a:txBody>
                  <a:tcPr/>
                </a:tc>
                <a:tc>
                  <a:txBody>
                    <a:bodyPr/>
                    <a:lstStyle/>
                    <a:p>
                      <a:r>
                        <a:t>hsa00510|N-Glycan biosynthesis|-8.2;GO:0006487|protein N-linked glycosylation|-7.5;GO:0009101|glycoprotein biosynthetic process|-6.1</a:t>
                      </a:r>
                    </a:p>
                  </a:txBody>
                  <a:tcPr/>
                </a:tc>
              </a:tr>
              <a:tr h="284480">
                <a:tc>
                  <a:txBody>
                    <a:bodyPr/>
                    <a:lstStyle/>
                    <a:p>
                      <a:r>
                        <a:t>MyList_SUB1_MCODE_18</a:t>
                      </a:r>
                    </a:p>
                  </a:txBody>
                  <a:tcPr/>
                </a:tc>
                <a:tc>
                  <a:txBody>
                    <a:bodyPr/>
                    <a:lstStyle/>
                    <a:p>
                      <a:r>
                        <a:t>GO:0006401|RNA catabolic process|-6.4;GO:0141188|nucleic acid catabolic process|-6.3;GO:0034655|nucleobase-containing compound catabolic process|-5.7</a:t>
                      </a:r>
                    </a:p>
                  </a:txBody>
                  <a:tcPr/>
                </a:tc>
              </a:tr>
            </a:tbl>
          </a:graphicData>
        </a:graphic>
      </p:graphicFrame>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